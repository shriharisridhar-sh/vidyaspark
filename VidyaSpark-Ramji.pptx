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14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dhar, Shrihari" userId="6fa84ef4-a1d6-486d-be67-3fb638557887" providerId="ADAL" clId="{518F1F16-0170-4519-9C35-BB2449D5AC90}"/>
    <pc:docChg chg="custSel modSld">
      <pc:chgData name="Sridhar, Shrihari" userId="6fa84ef4-a1d6-486d-be67-3fb638557887" providerId="ADAL" clId="{518F1F16-0170-4519-9C35-BB2449D5AC90}" dt="2026-03-24T02:24:06.585" v="38" actId="478"/>
      <pc:docMkLst>
        <pc:docMk/>
      </pc:docMkLst>
      <pc:sldChg chg="modSp mod">
        <pc:chgData name="Sridhar, Shrihari" userId="6fa84ef4-a1d6-486d-be67-3fb638557887" providerId="ADAL" clId="{518F1F16-0170-4519-9C35-BB2449D5AC90}" dt="2026-03-24T02:22:28.773" v="16" actId="20577"/>
        <pc:sldMkLst>
          <pc:docMk/>
          <pc:sldMk cId="0" sldId="256"/>
        </pc:sldMkLst>
        <pc:spChg chg="mod">
          <ac:chgData name="Sridhar, Shrihari" userId="6fa84ef4-a1d6-486d-be67-3fb638557887" providerId="ADAL" clId="{518F1F16-0170-4519-9C35-BB2449D5AC90}" dt="2026-03-24T02:22:28.773" v="16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Sridhar, Shrihari" userId="6fa84ef4-a1d6-486d-be67-3fb638557887" providerId="ADAL" clId="{518F1F16-0170-4519-9C35-BB2449D5AC90}" dt="2026-03-24T02:23:25.529" v="17" actId="14100"/>
        <pc:sldMkLst>
          <pc:docMk/>
          <pc:sldMk cId="0" sldId="266"/>
        </pc:sldMkLst>
        <pc:spChg chg="mod">
          <ac:chgData name="Sridhar, Shrihari" userId="6fa84ef4-a1d6-486d-be67-3fb638557887" providerId="ADAL" clId="{518F1F16-0170-4519-9C35-BB2449D5AC90}" dt="2026-03-24T02:23:25.529" v="17" actId="14100"/>
          <ac:spMkLst>
            <pc:docMk/>
            <pc:sldMk cId="0" sldId="266"/>
            <ac:spMk id="7" creationId="{00000000-0000-0000-0000-000000000000}"/>
          </ac:spMkLst>
        </pc:spChg>
      </pc:sldChg>
      <pc:sldChg chg="delSp modSp mod">
        <pc:chgData name="Sridhar, Shrihari" userId="6fa84ef4-a1d6-486d-be67-3fb638557887" providerId="ADAL" clId="{518F1F16-0170-4519-9C35-BB2449D5AC90}" dt="2026-03-24T02:24:06.585" v="38" actId="478"/>
        <pc:sldMkLst>
          <pc:docMk/>
          <pc:sldMk cId="0" sldId="270"/>
        </pc:sldMkLst>
        <pc:spChg chg="mod">
          <ac:chgData name="Sridhar, Shrihari" userId="6fa84ef4-a1d6-486d-be67-3fb638557887" providerId="ADAL" clId="{518F1F16-0170-4519-9C35-BB2449D5AC90}" dt="2026-03-24T02:24:01.284" v="36" actId="20577"/>
          <ac:spMkLst>
            <pc:docMk/>
            <pc:sldMk cId="0" sldId="270"/>
            <ac:spMk id="6" creationId="{00000000-0000-0000-0000-000000000000}"/>
          </ac:spMkLst>
        </pc:spChg>
        <pc:spChg chg="del">
          <ac:chgData name="Sridhar, Shrihari" userId="6fa84ef4-a1d6-486d-be67-3fb638557887" providerId="ADAL" clId="{518F1F16-0170-4519-9C35-BB2449D5AC90}" dt="2026-03-24T02:24:04.724" v="37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Sridhar, Shrihari" userId="6fa84ef4-a1d6-486d-be67-3fb638557887" providerId="ADAL" clId="{518F1F16-0170-4519-9C35-BB2449D5AC90}" dt="2026-03-24T02:24:06.585" v="38" actId="478"/>
          <ac:spMkLst>
            <pc:docMk/>
            <pc:sldMk cId="0" sldId="270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1A0A00"/>
          </a:solidFill>
          <a:ln w="381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1417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5100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VidyaSpark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C80"/>
                </a:solidFill>
                <a:latin typeface="Calibri"/>
              </a:defRPr>
            </a:pPr>
            <a:r>
              <a:t>The Intellectual Forest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206240"/>
            <a:ext cx="210312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Calibri"/>
              </a:defRPr>
            </a:pPr>
            <a:r>
              <a:t>AI-Powered Ignator Training &amp; Education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rPr dirty="0"/>
              <a:t>Presented by </a:t>
            </a:r>
            <a:r>
              <a:rPr lang="en-US" dirty="0"/>
              <a:t>H</a:t>
            </a:r>
            <a:r>
              <a:rPr dirty="0"/>
              <a:t>ari Sridhar</a:t>
            </a:r>
            <a:r>
              <a:rPr lang="en-US" dirty="0"/>
              <a:t> and Levi Belnap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rPr dirty="0"/>
              <a:t>CRO, Agastya International Foundation  |  Texas A&amp;M Mays Business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Training Excellence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Agastya International Foundation has 1,000 Ignators delivering hands-on science education to millions of children across India.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hardest problem: How do you ensure every single Ignator delivers magic in every single classroom, every single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5100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Ignators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749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5100"/>
                </a:solidFill>
                <a:latin typeface="Calibri"/>
              </a:defRPr>
            </a:pPr>
            <a:r>
              <a:t>100M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Children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937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5100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Training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80"/>
                </a:solidFill>
                <a:latin typeface="Calibri"/>
              </a:defRPr>
            </a:pPr>
            <a:r>
              <a:t>Traditional training reaches each Ignator once. VidyaSpark lets them practice endlessly.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VidyaSpark: The Virtual Tapovan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An AI-powered virtual classroom where Ignators practice teaching interactive science experiments to 5 AI students who behave like real children.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25603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Unlimited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rPr dirty="0"/>
              <a:t>Teach the same module again</a:t>
            </a:r>
            <a:br>
              <a:rPr dirty="0"/>
            </a:br>
            <a:r>
              <a:rPr dirty="0"/>
              <a:t>and again. AI students reset.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9319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3931920"/>
            <a:ext cx="25603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Available 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Practice from anywhere,</a:t>
            </a:r>
            <a:br/>
            <a:r>
              <a:t>anytime. No scheduling.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25603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5 Unique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Each AI student challenges</a:t>
            </a:r>
            <a:br/>
            <a:r>
              <a:t>different teaching skills.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79" y="3931920"/>
            <a:ext cx="25603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79" y="3931920"/>
            <a:ext cx="256032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59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Instant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AI or human mentors give</a:t>
            </a:r>
            <a:br/>
            <a:r>
              <a:t>actionable coaching.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Learn. Practice. Ignite.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51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91440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The Ignator reviews the ABL module, sees the experiment materials, and understands the learning objectives before entering the virtual classroom.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51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931920"/>
            <a:ext cx="91440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The Ignator teaches the experiment to 5 AI students on an interactive canvas. AI students ask questions, get confused, and challenge — just like real children.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651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IGNITE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931920"/>
            <a:ext cx="91440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After the session, the Ignator receives a detailed report with scores, specific feedback, and coaching. Then they do it again — better each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AI CLASSROOM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Meet the 5 AI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103120" cy="508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2743200"/>
            <a:ext cx="731520" cy="73152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A726"/>
                </a:solidFill>
                <a:latin typeface="Calibri"/>
              </a:defRPr>
            </a:pPr>
            <a:r>
              <a:t>13, Curious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Asks genuine why questions.</a:t>
            </a:r>
            <a:br/>
            <a:r>
              <a:t>Pushes the Ignator to</a:t>
            </a:r>
            <a:br/>
            <a:r>
              <a:t>explain deeper.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2377440"/>
            <a:ext cx="210312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29000" y="2743200"/>
            <a:ext cx="731520" cy="7315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Ravi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A5F5"/>
                </a:solidFill>
                <a:latin typeface="Calibri"/>
              </a:defRPr>
            </a:pPr>
            <a:r>
              <a:t>14, Skeptic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Demands proof, challenges claims.</a:t>
            </a:r>
            <a:br/>
            <a:r>
              <a:t>Refuses answers</a:t>
            </a:r>
            <a:br/>
            <a:r>
              <a:t>without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2377440"/>
            <a:ext cx="210312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15000" y="2743200"/>
            <a:ext cx="731520" cy="73152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Lakshmi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B47BC"/>
                </a:solidFill>
                <a:latin typeface="Calibri"/>
              </a:defRPr>
            </a:pPr>
            <a:r>
              <a:t>12, Shy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Knows the answers but will</a:t>
            </a:r>
            <a:br/>
            <a:r>
              <a:t>not speak unless directly</a:t>
            </a:r>
            <a:br/>
            <a:r>
              <a:t>invited.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0" y="2377440"/>
            <a:ext cx="2103120" cy="508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001000" y="2743200"/>
            <a:ext cx="731520" cy="731520"/>
          </a:xfrm>
          <a:prstGeom prst="ellipse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1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Arjun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5350"/>
                </a:solidFill>
                <a:latin typeface="Calibri"/>
              </a:defRPr>
            </a:pPr>
            <a:r>
              <a:t>14, Disengaged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Bored, makes jokes, distracted.</a:t>
            </a:r>
            <a:br/>
            <a:r>
              <a:t>Can be won back with</a:t>
            </a:r>
            <a:br/>
            <a:r>
              <a:t>the right hook.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2377440"/>
            <a:ext cx="2103120" cy="3474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601200" y="2377440"/>
            <a:ext cx="2103120" cy="508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287000" y="2743200"/>
            <a:ext cx="731520" cy="73152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870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BB6A"/>
                </a:solidFill>
                <a:latin typeface="Calibri"/>
              </a:defRPr>
            </a:pPr>
            <a:r>
              <a:t>13, Rote Learner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Repeats textbook answers</a:t>
            </a:r>
            <a:br/>
            <a:r>
              <a:t>without real understanding.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Interactive Experiment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Each ABL module from Agastya's handbooks becomes a visual, interactive experiment on the canvas.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6858000" cy="27432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EXPERIMENT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Ignator narrates: "I'm placing the brick flat on the rubber sheet"</a:t>
            </a:r>
            <a:br/>
            <a:br/>
            <a:r>
              <a:t>The canvas animates the experiment step by step.</a:t>
            </a:r>
            <a:br/>
            <a:br/>
            <a:r>
              <a:t>AI students see the result and react naturally:</a:t>
            </a:r>
            <a:br/>
            <a:r>
              <a:t>  Priya: "Why did it go down a little?"</a:t>
            </a:r>
            <a:br/>
            <a:r>
              <a:t>  Ravi: "That's nothing. Try it the other way."</a:t>
            </a:r>
          </a:p>
        </p:txBody>
      </p:sp>
      <p:sp>
        <p:nvSpPr>
          <p:cNvPr id="10" name="Oval 9"/>
          <p:cNvSpPr/>
          <p:nvPr/>
        </p:nvSpPr>
        <p:spPr>
          <a:xfrm>
            <a:off x="8046720" y="281940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743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Narrate and Animate — the canvas responds to the Ignator's words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355092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34747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Pre-built experiment sequences for each ABL module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428244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4206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AI students react based on what's visible on the canvas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501396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Mirrors the real classroom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LIVE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It's Already Built and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vidyaspark.onrender.com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8 fully functional modules live today, across 4 subjects. All sourced directly from Agastya's ABL handbooks. Real AI students, real assessments, real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14800"/>
            <a:ext cx="914400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1.  Select any ABL module from the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74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2.  Enter the Tapovan — the virtual classroom with 5 AI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394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3.  Teach the experiment using the interactive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71499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4.  Receive a comprehensive assessment report with composite scoring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MODULE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8 Modules Live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74320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743200" cy="508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Force &amp;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Brick on rubber sheet — exploring how area affects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Vibrations, frequency, and how sound travels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377440"/>
            <a:ext cx="274320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2377440"/>
            <a:ext cx="274320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Calibri"/>
              </a:defRPr>
            </a:pPr>
            <a:r>
              <a:t>CHEMISTRY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States of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Solids, liquids, gases — particle arrangement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Separation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800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Filtration, evaporation, chromatography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274320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2743200" cy="508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726"/>
                </a:solidFill>
                <a:latin typeface="Calibri"/>
              </a:defRPr>
            </a:pPr>
            <a:r>
              <a:t>MATHEMATICS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Triangles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Types, properties, and the angle sum 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Quadrilaterals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Classification and properties of quadrilaterals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377440"/>
            <a:ext cx="2743200" cy="3657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98280" y="2377440"/>
            <a:ext cx="2743200" cy="508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BIOLOGY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Cells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The fundamental unit of life — onion peel experiment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Photosynthesis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800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How plants make food using sunlight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80"/>
                </a:solidFill>
                <a:latin typeface="Calibri"/>
              </a:defRPr>
            </a:pPr>
            <a:r>
              <a:t>Architecture supports 100+ ABL modules across all Agastya handbooks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Rigorous Assessment &amp;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5100"/>
                </a:solidFill>
                <a:latin typeface="Calibri"/>
              </a:defRPr>
            </a:pPr>
            <a:r>
              <a:t>How Assessment Works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5120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225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Ignator completes the teaching session with all 5 AI students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556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820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AI generates 10 comprehension questions based on the ABL module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3992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414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Each AI student answers based on their actual engagement during the session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034280"/>
            <a:ext cx="320040" cy="3200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0088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Students who were more engaged score higher — just like real classrooms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560320"/>
            <a:ext cx="4572000" cy="3474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5100"/>
                </a:solidFill>
                <a:latin typeface="Calibri"/>
              </a:defRPr>
            </a:pPr>
            <a:r>
              <a:t>COMPOSITE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Student Achievement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72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510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8463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486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Ignator Confidence Rating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Three Phases to Transform 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56616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606040"/>
            <a:ext cx="1005840" cy="3200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2606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SIMULATOR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91440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Ignators practice teaching ABL modules to 5 AI students. They receive mentor feedback. They practice until mastery. This is the research phase.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77440"/>
            <a:ext cx="356616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A5F5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06040"/>
            <a:ext cx="1005840" cy="32004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CLASSROOM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657600"/>
            <a:ext cx="914400" cy="381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The same interactive canvas becomes the teaching tool for real students. Every government school with a screen becomes a science lab.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77440"/>
            <a:ext cx="356616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606040"/>
            <a:ext cx="100584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0" y="2606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657600"/>
            <a:ext cx="9144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VidyaSpark deploys across Andhra Pradesh and beyond. 100+ interactive modules reaching thousands of schools through trained Ignators.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023360" y="4114800"/>
            <a:ext cx="45720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7863840" y="4114800"/>
            <a:ext cx="457200" cy="27432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 World-First Research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C80"/>
                </a:solidFill>
                <a:latin typeface="Calibri"/>
              </a:defRPr>
            </a:pPr>
            <a:r>
              <a:t>The first rigorous, randomized study of AI-powered teacher training in India — or anywhere.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40"/>
            <a:ext cx="4846320" cy="2468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rPr dirty="0"/>
              <a:t>EXPERIMENTAL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Treatment: VidyaSpark-trained Ignators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Control: Traditionally trained Ignators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Measure: Student learning outcomes in real classrooms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12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Sample: 50+ Ignators over 3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577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Variables: Teaching quality, engagement, concept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RESEARCH IMPACT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345948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Publishable in top education and technology journals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419100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Evidence base for government adoption across Indian states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92252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4846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Global implications for AI in teacher training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5654040"/>
            <a:ext cx="127000" cy="12700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55778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Positions Agastya as a research-driven innovator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Proposed Path Forward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28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880360"/>
            <a:ext cx="38100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INCORPORATE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Establish VidyaSpark as a company — a technology venture with a social mission.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51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3856" y="3703320"/>
            <a:ext cx="38100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COLLABORATE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00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Partner with Agastya to build ALL 100+ ABL modules from the complete handbook library.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02336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74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" y="4526280"/>
            <a:ext cx="38100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59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23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Run a rigorous 3-month experiment with 50 Ignators. Measure real impact on student learning.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97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" y="5349240"/>
            <a:ext cx="38100" cy="3200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846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Publish research results in top journals. Build the evidence base for AI-powered teacher training.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66928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720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669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Deploy across Andhra Pradesh. Present to the Chief Minister with proven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Funding the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CC80"/>
                </a:solidFill>
                <a:latin typeface="Calibri"/>
              </a:defRPr>
            </a:pPr>
            <a:r>
              <a:t>How could funding work for this partnership?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Agastya Co-Investment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Direct investment from Agastya Foundation in VidyaSpark development and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20040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Government Education Grants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Andhra Pradesh state education technology funding for classroom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20040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Research Funding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49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NSF grants, education foundations, and academic research partnerships.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Corporate CSR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Indian corporate social responsibility partnerships (tech companies, education firms).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846320"/>
            <a:ext cx="356616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100"/>
                </a:solidFill>
                <a:latin typeface="Calibri"/>
              </a:defRPr>
            </a:pPr>
            <a:r>
              <a:t>Revenue from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State-level licensing and per-school deployment revenue at 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200400"/>
          </a:xfrm>
          <a:prstGeom prst="rect">
            <a:avLst/>
          </a:prstGeom>
          <a:solidFill>
            <a:srgbClr val="1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  <a:latin typeface="Calibri"/>
              </a:defRPr>
            </a:pPr>
            <a: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100 Million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65100"/>
                </a:solidFill>
                <a:latin typeface="Calibri"/>
              </a:defRPr>
            </a:pPr>
            <a:r>
              <a:t>1 Million Teachers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CC80"/>
                </a:solidFill>
                <a:latin typeface="Calibri"/>
              </a:defRPr>
            </a:pPr>
            <a:r>
              <a:t>Powered by the Intellectual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VidyaSpark makes Agastya's 2032 vision achievable by giving every Ignator a tireless practice partner.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Build This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377440"/>
            <a:ext cx="210312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</a:t>
            </a:r>
            <a:r>
              <a:rPr dirty="0"/>
              <a:t>ari Sridhar</a:t>
            </a:r>
            <a:r>
              <a:rPr lang="en-US" dirty="0"/>
              <a:t> and Levi Belnap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484632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4709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0749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Discuss collaboration structure and funding</a:t>
            </a:r>
            <a:br/>
            <a:r>
              <a:t>Plan the 50-Ignator pilot experiment</a:t>
            </a:r>
            <a:br/>
            <a:r>
              <a:t>Build the complete ABL module library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5100"/>
                </a:solidFill>
                <a:latin typeface="Calibri"/>
              </a:defRPr>
            </a:pPr>
            <a:r>
              <a:t>vidyaspark.onrender.com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1150</Words>
  <Application>Microsoft Office PowerPoint</Application>
  <PresentationFormat>Widescreen</PresentationFormat>
  <Paragraphs>187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Sridhar, Shrihari</cp:lastModifiedBy>
  <cp:revision>1</cp:revision>
  <dcterms:created xsi:type="dcterms:W3CDTF">2013-01-27T09:14:16Z</dcterms:created>
  <dcterms:modified xsi:type="dcterms:W3CDTF">2026-03-24T02:24:09Z</dcterms:modified>
  <cp:category/>
</cp:coreProperties>
</file>