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394960" y="1097280"/>
            <a:ext cx="1371600" cy="1371600"/>
          </a:xfrm>
          <a:prstGeom prst="ellipse">
            <a:avLst/>
          </a:prstGeom>
          <a:solidFill>
            <a:srgbClr val="1A0A00"/>
          </a:solidFill>
          <a:ln w="381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94960" y="14173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65100"/>
                </a:solidFill>
                <a:latin typeface="Calibri"/>
              </a:defRPr>
            </a:pPr>
            <a:r>
              <a:t>VS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Calibri"/>
              </a:defRPr>
            </a:pPr>
            <a:r>
              <a:t>VidyaSpark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566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CC80"/>
                </a:solidFill>
                <a:latin typeface="Calibri"/>
              </a:defRPr>
            </a:pPr>
            <a:r>
              <a:t>The Intellectual Forest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4206240"/>
            <a:ext cx="2103120" cy="381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44805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BBBBB"/>
                </a:solidFill>
                <a:latin typeface="Calibri"/>
              </a:defRPr>
            </a:pPr>
            <a:r>
              <a:t>AI-Powered Ignator Training &amp; Education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303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88"/>
                </a:solidFill>
                <a:latin typeface="Calibri"/>
              </a:defRPr>
            </a:pPr>
            <a:r>
              <a:t>Presented by Professor Shrihari Sridhar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88"/>
                </a:solidFill>
                <a:latin typeface="Calibri"/>
              </a:defRPr>
            </a:pPr>
            <a:r>
              <a:t>CRO, Agastya International Foundation  |  Texas A&amp;M Mays Business School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508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5100"/>
                </a:solidFill>
                <a:latin typeface="Calibri"/>
              </a:defRPr>
            </a:pPr>
            <a:r>
              <a:t>THE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Calibri"/>
              </a:defRPr>
            </a:pPr>
            <a:r>
              <a:t>Training Excellence at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BBBBB"/>
                </a:solidFill>
                <a:latin typeface="Calibri"/>
              </a:defRPr>
            </a:pPr>
            <a:r>
              <a:t>Agastya International Foundation has 1,000 Ignators delivering hands-on science education to millions of children across India.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The hardest problem: How do you ensure every single Ignator delivers magic in every single classroom, every single time?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5603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E65100"/>
                </a:solidFill>
                <a:latin typeface="Calibri"/>
              </a:defRPr>
            </a:pPr>
            <a:r>
              <a:t>1,000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3108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88"/>
                </a:solidFill>
                <a:latin typeface="Calibri"/>
              </a:defRPr>
            </a:pPr>
            <a:r>
              <a:t>Ignators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37490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E65100"/>
                </a:solidFill>
                <a:latin typeface="Calibri"/>
              </a:defRPr>
            </a:pPr>
            <a:r>
              <a:t>100M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4297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88"/>
                </a:solidFill>
                <a:latin typeface="Calibri"/>
              </a:defRPr>
            </a:pPr>
            <a:r>
              <a:t>Children Goal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49377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E65100"/>
                </a:solidFill>
                <a:latin typeface="Calibri"/>
              </a:defRPr>
            </a:pPr>
            <a:r>
              <a:t>24/7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5486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88"/>
                </a:solidFill>
                <a:latin typeface="Calibri"/>
              </a:defRPr>
            </a:pPr>
            <a:r>
              <a:t>Training Need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303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CC80"/>
                </a:solidFill>
                <a:latin typeface="Calibri"/>
              </a:defRPr>
            </a:pPr>
            <a:r>
              <a:t>Traditional training reaches each Ignator once. VidyaSpark lets them practice endlessly.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508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5100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Calibri"/>
              </a:defRPr>
            </a:pPr>
            <a:r>
              <a:t>VidyaSpark: The Virtual Tapovan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BBBBB"/>
                </a:solidFill>
                <a:latin typeface="Calibri"/>
              </a:defRPr>
            </a:pPr>
            <a:r>
              <a:t>An AI-powered virtual classroom where Ignators practice teaching interactive science experiments to 5 AI students who behave like real children.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2560320" cy="20116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3931920"/>
            <a:ext cx="2560320" cy="508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062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5100"/>
                </a:solidFill>
                <a:latin typeface="Calibri"/>
              </a:defRPr>
            </a:pPr>
            <a:r>
              <a:t>Unlimited Practice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7548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Teach the same module again</a:t>
            </a:r>
            <a:br/>
            <a:r>
              <a:t>and again. AI students reset.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3931920"/>
            <a:ext cx="2560320" cy="20116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20440" y="3931920"/>
            <a:ext cx="2560320" cy="508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42062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5100"/>
                </a:solidFill>
                <a:latin typeface="Calibri"/>
              </a:defRPr>
            </a:pPr>
            <a:r>
              <a:t>Available 24/7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47548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Practice from anywhere,</a:t>
            </a:r>
            <a:br/>
            <a:r>
              <a:t>anytime. No scheduling.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931920"/>
            <a:ext cx="2560320" cy="20116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3931920"/>
            <a:ext cx="2560320" cy="508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42062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5100"/>
                </a:solidFill>
                <a:latin typeface="Calibri"/>
              </a:defRPr>
            </a:pPr>
            <a:r>
              <a:t>5 Unique Students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7548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Each AI student challenges</a:t>
            </a:r>
            <a:br/>
            <a:r>
              <a:t>different teaching skills.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79" y="3931920"/>
            <a:ext cx="2560320" cy="20116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98279" y="3931920"/>
            <a:ext cx="2560320" cy="508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81159" y="42062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5100"/>
                </a:solidFill>
                <a:latin typeface="Calibri"/>
              </a:defRPr>
            </a:pPr>
            <a:r>
              <a:t>Instant Feedback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59" y="47548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AI or human mentors give</a:t>
            </a:r>
            <a:br/>
            <a:r>
              <a:t>actionable coaching.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508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5100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Calibri"/>
              </a:defRPr>
            </a:pPr>
            <a:r>
              <a:t>Learn. Practice. Ignite.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E65100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LEARN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931920"/>
            <a:ext cx="914400" cy="381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20624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  <a:latin typeface="Calibri"/>
              </a:defRPr>
            </a:pPr>
            <a:r>
              <a:t>The Ignator reviews the ABL module, sees the experiment materials, and understands the learning objectives before entering the virtual classroom.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56032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E65100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3383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PRACTICE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3931920"/>
            <a:ext cx="914400" cy="381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420624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  <a:latin typeface="Calibri"/>
              </a:defRPr>
            </a:pPr>
            <a:r>
              <a:t>The Ignator teaches the experiment to 5 AI students on an interactive canvas. AI students ask questions, get confused, and challenge — just like real children.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56032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E65100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383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IGNITE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3931920"/>
            <a:ext cx="914400" cy="381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420624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  <a:latin typeface="Calibri"/>
              </a:defRPr>
            </a:pPr>
            <a:r>
              <a:t>After the session, the Ignator receives a detailed report with scores, specific feedback, and coaching. Then they do it again — better each 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508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5100"/>
                </a:solidFill>
                <a:latin typeface="Calibri"/>
              </a:defRPr>
            </a:pPr>
            <a:r>
              <a:t>THE AI CLASSROOM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Calibri"/>
              </a:defRPr>
            </a:pPr>
            <a:r>
              <a:t>Meet the 5 AI Students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77440"/>
            <a:ext cx="2103120" cy="347472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377440"/>
            <a:ext cx="2103120" cy="50800"/>
          </a:xfrm>
          <a:prstGeom prst="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3000" y="2743200"/>
            <a:ext cx="731520" cy="731520"/>
          </a:xfrm>
          <a:prstGeom prst="ellipse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8803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657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Priya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069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A726"/>
                </a:solidFill>
                <a:latin typeface="Calibri"/>
              </a:defRPr>
            </a:pPr>
            <a:r>
              <a:t>13, Curious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4805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BB"/>
                </a:solidFill>
                <a:latin typeface="Calibri"/>
              </a:defRPr>
            </a:pPr>
            <a:r>
              <a:t>Asks genuine why questions.</a:t>
            </a:r>
            <a:br/>
            <a:r>
              <a:t>Pushes the Ignator to</a:t>
            </a:r>
            <a:br/>
            <a:r>
              <a:t>explain deeper.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2377440"/>
            <a:ext cx="2103120" cy="347472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0" y="2377440"/>
            <a:ext cx="2103120" cy="508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429000" y="2743200"/>
            <a:ext cx="731520" cy="731520"/>
          </a:xfrm>
          <a:prstGeom prst="ellipse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28803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3657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Ravi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4069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2A5F5"/>
                </a:solidFill>
                <a:latin typeface="Calibri"/>
              </a:defRPr>
            </a:pPr>
            <a:r>
              <a:t>14, Skeptic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44805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BB"/>
                </a:solidFill>
                <a:latin typeface="Calibri"/>
              </a:defRPr>
            </a:pPr>
            <a:r>
              <a:t>Demands proof, challenges claims.</a:t>
            </a:r>
            <a:br/>
            <a:r>
              <a:t>Refuses answers</a:t>
            </a:r>
            <a:br/>
            <a:r>
              <a:t>without evidence.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2377440"/>
            <a:ext cx="2103120" cy="347472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0" y="2377440"/>
            <a:ext cx="2103120" cy="5080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715000" y="2743200"/>
            <a:ext cx="731520" cy="731520"/>
          </a:xfrm>
          <a:prstGeom prst="ellipse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5000" y="28803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60" y="3657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Lakshmi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66360" y="4069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B47BC"/>
                </a:solidFill>
                <a:latin typeface="Calibri"/>
              </a:defRPr>
            </a:pPr>
            <a:r>
              <a:t>12, Shy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66360" y="44805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BB"/>
                </a:solidFill>
                <a:latin typeface="Calibri"/>
              </a:defRPr>
            </a:pPr>
            <a:r>
              <a:t>Knows the answers but will</a:t>
            </a:r>
            <a:br/>
            <a:r>
              <a:t>not speak unless directly</a:t>
            </a:r>
            <a:br/>
            <a:r>
              <a:t>invited.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0" y="2377440"/>
            <a:ext cx="2103120" cy="347472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0" y="2377440"/>
            <a:ext cx="2103120" cy="5080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01000" y="2743200"/>
            <a:ext cx="731520" cy="731520"/>
          </a:xfrm>
          <a:prstGeom prst="ellipse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1000" y="28803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2360" y="3657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Arjun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2360" y="4069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F5350"/>
                </a:solidFill>
                <a:latin typeface="Calibri"/>
              </a:defRPr>
            </a:pPr>
            <a:r>
              <a:t>14, Disengaged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52360" y="44805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BB"/>
                </a:solidFill>
                <a:latin typeface="Calibri"/>
              </a:defRPr>
            </a:pPr>
            <a:r>
              <a:t>Bored, makes jokes, distracted.</a:t>
            </a:r>
            <a:br/>
            <a:r>
              <a:t>Can be won back with</a:t>
            </a:r>
            <a:br/>
            <a:r>
              <a:t>the right hook.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01200" y="2377440"/>
            <a:ext cx="2103120" cy="347472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601200" y="2377440"/>
            <a:ext cx="2103120" cy="5080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287000" y="2743200"/>
            <a:ext cx="731520" cy="731520"/>
          </a:xfrm>
          <a:prstGeom prst="ellipse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87000" y="28803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38360" y="3657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Meena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38360" y="4069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BB6A"/>
                </a:solidFill>
                <a:latin typeface="Calibri"/>
              </a:defRPr>
            </a:pPr>
            <a:r>
              <a:t>13, Rote Learner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38360" y="44805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BB"/>
                </a:solidFill>
                <a:latin typeface="Calibri"/>
              </a:defRPr>
            </a:pPr>
            <a:r>
              <a:t>Repeats textbook answers</a:t>
            </a:r>
            <a:br/>
            <a:r>
              <a:t>without real understanding.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508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5100"/>
                </a:solidFill>
                <a:latin typeface="Calibri"/>
              </a:defRPr>
            </a:pPr>
            <a:r>
              <a:t>THE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Calibri"/>
              </a:defRPr>
            </a:pPr>
            <a:r>
              <a:t>The Interactive Experiment Canvas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BBBBB"/>
                </a:solidFill>
                <a:latin typeface="Calibri"/>
              </a:defRPr>
            </a:pPr>
            <a:r>
              <a:t>Each ABL module from Agastya's handbooks becomes a visual, interactive experiment on the canvas.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474720"/>
            <a:ext cx="6858000" cy="274320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657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5100"/>
                </a:solidFill>
                <a:latin typeface="Calibri"/>
              </a:defRPr>
            </a:pPr>
            <a:r>
              <a:t>EXPERIMENT CANVAS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114800"/>
            <a:ext cx="5943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The Ignator narrates: "I'm placing the brick flat on the rubber sheet"</a:t>
            </a:r>
            <a:br/>
            <a:br/>
            <a:r>
              <a:t>The canvas animates the experiment step by step.</a:t>
            </a:r>
            <a:br/>
            <a:br/>
            <a:r>
              <a:t>AI students see the result and react naturally:</a:t>
            </a:r>
            <a:br/>
            <a:r>
              <a:t>  Priya: "Why did it go down a little?"</a:t>
            </a:r>
            <a:br/>
            <a:r>
              <a:t>  Ravi: "That's nothing. Try it the other way."</a:t>
            </a:r>
          </a:p>
        </p:txBody>
      </p:sp>
      <p:sp>
        <p:nvSpPr>
          <p:cNvPr id="10" name="Oval 9"/>
          <p:cNvSpPr/>
          <p:nvPr/>
        </p:nvSpPr>
        <p:spPr>
          <a:xfrm>
            <a:off x="8046720" y="2819400"/>
            <a:ext cx="127000" cy="127000"/>
          </a:xfrm>
          <a:prstGeom prst="ellipse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27432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Narrate and Animate — the canvas responds to the Ignator's words</a:t>
            </a:r>
          </a:p>
        </p:txBody>
      </p:sp>
      <p:sp>
        <p:nvSpPr>
          <p:cNvPr id="12" name="Oval 11"/>
          <p:cNvSpPr/>
          <p:nvPr/>
        </p:nvSpPr>
        <p:spPr>
          <a:xfrm>
            <a:off x="8046720" y="3550920"/>
            <a:ext cx="127000" cy="127000"/>
          </a:xfrm>
          <a:prstGeom prst="ellipse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47472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Pre-built experiment sequences for each ABL module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0" y="4282440"/>
            <a:ext cx="127000" cy="127000"/>
          </a:xfrm>
          <a:prstGeom prst="ellipse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420624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AI students react based on what's visible on the canvas</a:t>
            </a:r>
          </a:p>
        </p:txBody>
      </p:sp>
      <p:sp>
        <p:nvSpPr>
          <p:cNvPr id="16" name="Oval 15"/>
          <p:cNvSpPr/>
          <p:nvPr/>
        </p:nvSpPr>
        <p:spPr>
          <a:xfrm>
            <a:off x="8046720" y="5013960"/>
            <a:ext cx="127000" cy="127000"/>
          </a:xfrm>
          <a:prstGeom prst="ellipse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493776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Mirrors the real classroom experience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508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5100"/>
                </a:solidFill>
                <a:latin typeface="Calibri"/>
              </a:defRPr>
            </a:pPr>
            <a:r>
              <a:t>LIVE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Calibri"/>
              </a:defRPr>
            </a:pPr>
            <a:r>
              <a:t>It's Already Built and Running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65100"/>
                </a:solidFill>
                <a:latin typeface="Calibri"/>
              </a:defRPr>
            </a:pPr>
            <a:r>
              <a:t>vidyaspark.onrender.com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BB"/>
                </a:solidFill>
                <a:latin typeface="Calibri"/>
              </a:defRPr>
            </a:pPr>
            <a:r>
              <a:t>8 fully functional modules live today, across 4 subjects. All sourced directly from Agastya's ABL handbooks. Real AI students, real assessments, real scoring.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114800"/>
            <a:ext cx="9144000" cy="20116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42976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5100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47548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  <a:latin typeface="Calibri"/>
              </a:defRPr>
            </a:pPr>
            <a:r>
              <a:t>1.  Select any ABL module from the library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50749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  <a:latin typeface="Calibri"/>
              </a:defRPr>
            </a:pPr>
            <a:r>
              <a:t>2.  Enter the Tapovan — the virtual classroom with 5 AI students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53949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  <a:latin typeface="Calibri"/>
              </a:defRPr>
            </a:pPr>
            <a:r>
              <a:t>3.  Teach the experiment using the interactive canvas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5714999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  <a:latin typeface="Calibri"/>
              </a:defRPr>
            </a:pPr>
            <a:r>
              <a:t>4.  Receive a comprehensive assessment report with composite scoring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508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5100"/>
                </a:solidFill>
                <a:latin typeface="Calibri"/>
              </a:defRPr>
            </a:pPr>
            <a:r>
              <a:t>MODULE LIBRARY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Calibri"/>
              </a:defRPr>
            </a:pPr>
            <a:r>
              <a:t>8 Modules Live Today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77440"/>
            <a:ext cx="2743200" cy="36576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377440"/>
            <a:ext cx="2743200" cy="508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2A5F5"/>
                </a:solidFill>
                <a:latin typeface="Calibri"/>
              </a:defRPr>
            </a:pPr>
            <a:r>
              <a:t>PHYSICS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Force &amp; Pressure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118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Brick on rubber sheet — exploring how area affects pressure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4805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Sound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8006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Vibrations, frequency, and how sound travels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2377440"/>
            <a:ext cx="2743200" cy="36576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2377440"/>
            <a:ext cx="2743200" cy="5080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2651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B47BC"/>
                </a:solidFill>
                <a:latin typeface="Calibri"/>
              </a:defRPr>
            </a:pPr>
            <a:r>
              <a:t>CHEMISTRY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32918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States of Matter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36118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Solids, liquids, gases — particle arrangement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44805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Separation Techniques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48006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Filtration, evaporation, chromatography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377440"/>
            <a:ext cx="2743200" cy="36576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2377440"/>
            <a:ext cx="2743200" cy="50800"/>
          </a:xfrm>
          <a:prstGeom prst="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651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A726"/>
                </a:solidFill>
                <a:latin typeface="Calibri"/>
              </a:defRPr>
            </a:pPr>
            <a:r>
              <a:t>MATHEMATICS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2918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Triangles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6118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Types, properties, and the angle sum property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4805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Quadrilaterals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8006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Classification and properties of quadrilaterals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98280" y="2377440"/>
            <a:ext cx="2743200" cy="36576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98280" y="2377440"/>
            <a:ext cx="2743200" cy="5080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81160" y="2651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BB6A"/>
                </a:solidFill>
                <a:latin typeface="Calibri"/>
              </a:defRPr>
            </a:pPr>
            <a:r>
              <a:t>BIOLOGY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1160" y="32918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Cells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1160" y="36118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The fundamental unit of life — onion peel experiment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81160" y="44805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Photosynthesis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81160" y="48006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How plants make food using sunlight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6217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CC80"/>
                </a:solidFill>
                <a:latin typeface="Calibri"/>
              </a:defRPr>
            </a:pPr>
            <a:r>
              <a:t>Architecture supports 100+ ABL modules across all Agastya handbooks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508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5100"/>
                </a:solidFill>
                <a:latin typeface="Calibri"/>
              </a:defRPr>
            </a:pPr>
            <a:r>
              <a:t>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Calibri"/>
              </a:defRPr>
            </a:pPr>
            <a:r>
              <a:t>Rigorous Assessment &amp; Scoring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65100"/>
                </a:solidFill>
                <a:latin typeface="Calibri"/>
              </a:defRPr>
            </a:pPr>
            <a:r>
              <a:t>How Assessment Works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3251200"/>
            <a:ext cx="320040" cy="320040"/>
          </a:xfrm>
          <a:prstGeom prst="ellipse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22580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2004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  <a:latin typeface="Calibri"/>
              </a:defRPr>
            </a:pPr>
            <a:r>
              <a:t>Ignator completes the teaching session with all 5 AI students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845560"/>
            <a:ext cx="320040" cy="320040"/>
          </a:xfrm>
          <a:prstGeom prst="ellipse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8201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794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  <a:latin typeface="Calibri"/>
              </a:defRPr>
            </a:pPr>
            <a:r>
              <a:t>AI generates 10 comprehension questions based on the ABL module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439920"/>
            <a:ext cx="320040" cy="320040"/>
          </a:xfrm>
          <a:prstGeom prst="ellipse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41452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3891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  <a:latin typeface="Calibri"/>
              </a:defRPr>
            </a:pPr>
            <a:r>
              <a:t>Each AI student answers based on their actual engagement during the session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5034280"/>
            <a:ext cx="320040" cy="320040"/>
          </a:xfrm>
          <a:prstGeom prst="ellipse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0088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9834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  <a:latin typeface="Calibri"/>
              </a:defRPr>
            </a:pPr>
            <a:r>
              <a:t>Students who were more engaged score higher — just like real classrooms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0" y="2560320"/>
            <a:ext cx="4572000" cy="347472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0" y="27432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65100"/>
                </a:solidFill>
                <a:latin typeface="Calibri"/>
              </a:defRPr>
            </a:pPr>
            <a:r>
              <a:t>COMPOSITE SCORE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338328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70%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40233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BB"/>
                </a:solidFill>
                <a:latin typeface="Calibri"/>
              </a:defRPr>
            </a:pPr>
            <a:r>
              <a:t>Student Achievement Score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45720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65100"/>
                </a:solidFill>
                <a:latin typeface="Calibri"/>
              </a:defRPr>
            </a:pPr>
            <a:r>
              <a:t>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484632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30%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54864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BB"/>
                </a:solidFill>
                <a:latin typeface="Calibri"/>
              </a:defRPr>
            </a:pPr>
            <a:r>
              <a:t>Ignator Confidence Rating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508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5100"/>
                </a:solidFill>
                <a:latin typeface="Calibri"/>
              </a:defRPr>
            </a:pPr>
            <a:r>
              <a:t>THE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Calibri"/>
              </a:defRPr>
            </a:pPr>
            <a:r>
              <a:t>Three Phases to Transform Education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77440"/>
            <a:ext cx="3566160" cy="384048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6517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5100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2606040"/>
            <a:ext cx="1005840" cy="320040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26060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1089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THE SIMULATOR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657600"/>
            <a:ext cx="914400" cy="381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93192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  <a:latin typeface="Calibri"/>
              </a:defRPr>
            </a:pPr>
            <a:r>
              <a:t>Ignators practice teaching ABL modules to 5 AI students. They receive mentor feedback. They practice until mastery. This is the research phase.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2377440"/>
            <a:ext cx="3566160" cy="384048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26517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2A5F5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2606040"/>
            <a:ext cx="1005840" cy="320040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26060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NEXT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31089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THE CLASSROOM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26280" y="3657600"/>
            <a:ext cx="914400" cy="381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393192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  <a:latin typeface="Calibri"/>
              </a:defRPr>
            </a:pPr>
            <a:r>
              <a:t>The same interactive canvas becomes the teaching tool for real students. Every government school with a screen becomes a science lab.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2377440"/>
            <a:ext cx="3566160" cy="384048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26517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59669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424160" y="2606040"/>
            <a:ext cx="1005840" cy="3200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24160" y="26060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SCALE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31089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THE PLATFORM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66760" y="3657600"/>
            <a:ext cx="914400" cy="381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60" y="393192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  <a:latin typeface="Calibri"/>
              </a:defRPr>
            </a:pPr>
            <a:r>
              <a:t>VidyaSpark deploys across Andhra Pradesh and beyond. 100+ interactive modules reaching thousands of schools through trained Ignators.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4023360" y="4114800"/>
            <a:ext cx="457200" cy="274320"/>
          </a:xfrm>
          <a:prstGeom prst="rightArrow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ight Arrow 27"/>
          <p:cNvSpPr/>
          <p:nvPr/>
        </p:nvSpPr>
        <p:spPr>
          <a:xfrm>
            <a:off x="7863840" y="4114800"/>
            <a:ext cx="457200" cy="274320"/>
          </a:xfrm>
          <a:prstGeom prst="rightArrow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508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5100"/>
                </a:solidFill>
                <a:latin typeface="Calibri"/>
              </a:defRPr>
            </a:pPr>
            <a:r>
              <a:t>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Calibri"/>
              </a:defRPr>
            </a:pPr>
            <a:r>
              <a:t>A World-First Research Opportunity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CC80"/>
                </a:solidFill>
                <a:latin typeface="Calibri"/>
              </a:defRPr>
            </a:pPr>
            <a:r>
              <a:t>The first rigorous, randomized study of AI-powered teacher training in India — or anywhere.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474720"/>
            <a:ext cx="5029200" cy="27432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657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5100"/>
                </a:solidFill>
                <a:latin typeface="Calibri"/>
              </a:defRPr>
            </a:pPr>
            <a:r>
              <a:t>EXPERIMENTAL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1148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Treatment: VidyaSpark-trained Ignators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4805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Control: Traditionally trained Ignators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8463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Measure: Student learning outcomes in real classrooms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52120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Sample: 50+ Ignators over 3 months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55778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Variables: Teaching quality, engagement, concept retention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743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5100"/>
                </a:solidFill>
                <a:latin typeface="Calibri"/>
              </a:defRPr>
            </a:pPr>
            <a:r>
              <a:t>RESEARCH IMPACT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0" y="3459480"/>
            <a:ext cx="127000" cy="127000"/>
          </a:xfrm>
          <a:prstGeom prst="ellipse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0" y="338328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Publishable in top education and technology journals</a:t>
            </a:r>
          </a:p>
        </p:txBody>
      </p:sp>
      <p:sp>
        <p:nvSpPr>
          <p:cNvPr id="17" name="Oval 16"/>
          <p:cNvSpPr/>
          <p:nvPr/>
        </p:nvSpPr>
        <p:spPr>
          <a:xfrm>
            <a:off x="6858000" y="4191000"/>
            <a:ext cx="127000" cy="127000"/>
          </a:xfrm>
          <a:prstGeom prst="ellipse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60" y="411480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Evidence base for government adoption across Indian states</a:t>
            </a:r>
          </a:p>
        </p:txBody>
      </p:sp>
      <p:sp>
        <p:nvSpPr>
          <p:cNvPr id="19" name="Oval 18"/>
          <p:cNvSpPr/>
          <p:nvPr/>
        </p:nvSpPr>
        <p:spPr>
          <a:xfrm>
            <a:off x="6858000" y="4922520"/>
            <a:ext cx="127000" cy="127000"/>
          </a:xfrm>
          <a:prstGeom prst="ellipse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0" y="484632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Global implications for AI in teacher training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0" y="5654040"/>
            <a:ext cx="127000" cy="127000"/>
          </a:xfrm>
          <a:prstGeom prst="ellipse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23760" y="557784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Positions Agastya as a research-driven innovator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508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5100"/>
                </a:solidFill>
                <a:latin typeface="Calibri"/>
              </a:defRPr>
            </a:pPr>
            <a:r>
              <a:t>PATH FORWARD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Calibri"/>
              </a:defRPr>
            </a:pPr>
            <a:r>
              <a:t>Proposed Path Forward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377440"/>
            <a:ext cx="502920" cy="502920"/>
          </a:xfrm>
          <a:prstGeom prst="ellipse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2824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1133856" y="2880360"/>
            <a:ext cx="38100" cy="32004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377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65100"/>
                </a:solidFill>
                <a:latin typeface="Calibri"/>
              </a:defRPr>
            </a:pPr>
            <a:r>
              <a:t>INCORPORATE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3774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  <a:latin typeface="Calibri"/>
              </a:defRPr>
            </a:pPr>
            <a:r>
              <a:t>Establish VidyaSpark as a company — a technology venture with a social mission.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200400"/>
            <a:ext cx="502920" cy="502920"/>
          </a:xfrm>
          <a:prstGeom prst="ellipse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25120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33856" y="3703320"/>
            <a:ext cx="38100" cy="32004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45920" y="3200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65100"/>
                </a:solidFill>
                <a:latin typeface="Calibri"/>
              </a:defRPr>
            </a:pPr>
            <a:r>
              <a:t>COLLABORATE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2004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  <a:latin typeface="Calibri"/>
              </a:defRPr>
            </a:pPr>
            <a:r>
              <a:t>Partner with Agastya to build ALL 100+ ABL modules from the complete handbook library.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023360"/>
            <a:ext cx="502920" cy="502920"/>
          </a:xfrm>
          <a:prstGeom prst="ellipse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07416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33856" y="4526280"/>
            <a:ext cx="38100" cy="32004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45920" y="4023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65100"/>
                </a:solidFill>
                <a:latin typeface="Calibri"/>
              </a:defRPr>
            </a:pPr>
            <a:r>
              <a:t>PILOT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40233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  <a:latin typeface="Calibri"/>
              </a:defRPr>
            </a:pPr>
            <a:r>
              <a:t>Run a rigorous 3-month experiment with 50 Ignators. Measure real impact on student learning.</a:t>
            </a:r>
          </a:p>
        </p:txBody>
      </p:sp>
      <p:sp>
        <p:nvSpPr>
          <p:cNvPr id="21" name="Oval 20"/>
          <p:cNvSpPr/>
          <p:nvPr/>
        </p:nvSpPr>
        <p:spPr>
          <a:xfrm>
            <a:off x="914400" y="4846320"/>
            <a:ext cx="502920" cy="502920"/>
          </a:xfrm>
          <a:prstGeom prst="ellipse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8971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33856" y="5349240"/>
            <a:ext cx="38100" cy="32004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45920" y="4846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65100"/>
                </a:solidFill>
                <a:latin typeface="Calibri"/>
              </a:defRPr>
            </a:pPr>
            <a:r>
              <a:t>PUBLISH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4846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  <a:latin typeface="Calibri"/>
              </a:defRPr>
            </a:pPr>
            <a:r>
              <a:t>Publish research results in top journals. Build the evidence base for AI-powered teacher training.</a:t>
            </a:r>
          </a:p>
        </p:txBody>
      </p:sp>
      <p:sp>
        <p:nvSpPr>
          <p:cNvPr id="26" name="Oval 25"/>
          <p:cNvSpPr/>
          <p:nvPr/>
        </p:nvSpPr>
        <p:spPr>
          <a:xfrm>
            <a:off x="914400" y="5669280"/>
            <a:ext cx="502920" cy="502920"/>
          </a:xfrm>
          <a:prstGeom prst="ellipse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2008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56692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65100"/>
                </a:solidFill>
                <a:latin typeface="Calibri"/>
              </a:defRPr>
            </a:pPr>
            <a:r>
              <a:t>SCALE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56692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  <a:latin typeface="Calibri"/>
              </a:defRPr>
            </a:pPr>
            <a:r>
              <a:t>Deploy across Andhra Pradesh. Present to the Chief Minister with proven results.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508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5100"/>
                </a:solidFill>
                <a:latin typeface="Calibri"/>
              </a:defRPr>
            </a:pPr>
            <a:r>
              <a:t>FUNDING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Calibri"/>
              </a:defRPr>
            </a:pPr>
            <a:r>
              <a:t>Funding the Collaboration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CC80"/>
                </a:solidFill>
                <a:latin typeface="Calibri"/>
              </a:defRPr>
            </a:pPr>
            <a:r>
              <a:t>How could funding work for this partnership?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00400"/>
            <a:ext cx="3566160" cy="13716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337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65100"/>
                </a:solidFill>
                <a:latin typeface="Calibri"/>
              </a:defRPr>
            </a:pPr>
            <a:r>
              <a:t>Agastya Co-Investment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490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Direct investment from Agastya Foundation in VidyaSpark development and deployment.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3200400"/>
            <a:ext cx="3566160" cy="13716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3337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65100"/>
                </a:solidFill>
                <a:latin typeface="Calibri"/>
              </a:defRPr>
            </a:pPr>
            <a:r>
              <a:t>Government Education Grants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37490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Andhra Pradesh state education technology funding for classroom deployment.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3200400"/>
            <a:ext cx="3566160" cy="13716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3337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65100"/>
                </a:solidFill>
                <a:latin typeface="Calibri"/>
              </a:defRPr>
            </a:pPr>
            <a:r>
              <a:t>Research Funding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7490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NSF grants, education foundations, and academic research partnerships.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846320"/>
            <a:ext cx="3566160" cy="13716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65100"/>
                </a:solidFill>
                <a:latin typeface="Calibri"/>
              </a:defRPr>
            </a:pPr>
            <a:r>
              <a:t>Corporate CSR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3949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Indian corporate social responsibility partnerships (tech companies, education firms).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4846320"/>
            <a:ext cx="3566160" cy="13716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4983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65100"/>
                </a:solidFill>
                <a:latin typeface="Calibri"/>
              </a:defRPr>
            </a:pPr>
            <a:r>
              <a:t>Revenue from Deployment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53949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State-level licensing and per-school deployment revenue at scale.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3200400"/>
          </a:xfrm>
          <a:prstGeom prst="rect">
            <a:avLst/>
          </a:prstGeom>
          <a:solidFill>
            <a:srgbClr val="151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65100"/>
                </a:solidFill>
                <a:latin typeface="Calibri"/>
              </a:defRPr>
            </a:pPr>
            <a:r>
              <a:t>THE GOAL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100 Million Children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749039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E65100"/>
                </a:solidFill>
                <a:latin typeface="Calibri"/>
              </a:defRPr>
            </a:pPr>
            <a:r>
              <a:t>1 Million Teachers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754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CC80"/>
                </a:solidFill>
                <a:latin typeface="Calibri"/>
              </a:defRPr>
            </a:pPr>
            <a:r>
              <a:t>Powered by the Intellectual Forest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6692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88"/>
                </a:solidFill>
                <a:latin typeface="Calibri"/>
              </a:defRPr>
            </a:pPr>
            <a:r>
              <a:t>VidyaSpark makes Agastya's 2032 vision achievable by giving every Ignator a tireless practice partner.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Let's Build This Together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377440"/>
            <a:ext cx="2103120" cy="381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926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Professor Shrihari Sridhar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474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BB"/>
                </a:solidFill>
                <a:latin typeface="Calibri"/>
              </a:defRPr>
            </a:pPr>
            <a:r>
              <a:t>Chief Revenue Officer, Agastya International Foundation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840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BB"/>
                </a:solidFill>
                <a:latin typeface="Calibri"/>
              </a:defRPr>
            </a:pPr>
            <a:r>
              <a:t>Professor of Marketing, Texas A&amp;M Mays Business School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4572000"/>
            <a:ext cx="4846320" cy="137160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0" y="470916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65100"/>
                </a:solidFill>
                <a:latin typeface="Calibri"/>
              </a:defRPr>
            </a:pPr>
            <a:r>
              <a:t>NEXT 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5074920"/>
            <a:ext cx="4297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BB"/>
                </a:solidFill>
                <a:latin typeface="Calibri"/>
              </a:defRPr>
            </a:pPr>
            <a:r>
              <a:t>Discuss collaboration structure and funding</a:t>
            </a:r>
            <a:br/>
            <a:r>
              <a:t>Plan the 50-Ignator pilot experiment</a:t>
            </a:r>
            <a:br/>
            <a:r>
              <a:t>Build the complete ABL module library together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6126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65100"/>
                </a:solidFill>
                <a:latin typeface="Calibri"/>
              </a:defRPr>
            </a:pPr>
            <a:r>
              <a:t>vidyaspark.onrender.com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